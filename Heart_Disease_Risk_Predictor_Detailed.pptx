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241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Moderate</c:v>
                  </c:pt>
                  <c:pt idx="2">
                    <c:v>High</c:v>
                  </c:pt>
                  <c:pt idx="3">
                    <c:v>Very 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</c:v>
                </c:pt>
                <c:pt idx="1">
                  <c:v>1272</c:v>
                </c:pt>
                <c:pt idx="2">
                  <c:v>2593</c:v>
                </c:pt>
                <c:pt idx="3">
                  <c:v>1056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6F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6FA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Age</c:v>
                  </c:pt>
                  <c:pt idx="1">
                    <c:v>Blood Pressure</c:v>
                  </c:pt>
                  <c:pt idx="2">
                    <c:v>Cholesterol</c:v>
                  </c:pt>
                  <c:pt idx="3">
                    <c:v>BMI</c:v>
                  </c:pt>
                  <c:pt idx="4">
                    <c:v>Family Hist</c:v>
                  </c:pt>
                  <c:pt idx="5">
                    <c:v>Diabetes</c:v>
                  </c:pt>
                  <c:pt idx="6">
                    <c:v>Smoking</c:v>
                  </c:pt>
                  <c:pt idx="7">
                    <c:v>Heart Rate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0.118</c:v>
                </c:pt>
                <c:pt idx="1">
                  <c:v>0.092</c:v>
                </c:pt>
                <c:pt idx="2">
                  <c:v>0.087</c:v>
                </c:pt>
                <c:pt idx="3">
                  <c:v>0.081</c:v>
                </c:pt>
                <c:pt idx="4">
                  <c:v>0.068</c:v>
                </c:pt>
                <c:pt idx="5">
                  <c:v>0.057</c:v>
                </c:pt>
                <c:pt idx="6">
                  <c:v>0.048</c:v>
                </c:pt>
                <c:pt idx="7">
                  <c:v>0.042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Risk Score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Never</c:v>
                  </c:pt>
                  <c:pt idx="1">
                    <c:v>Former</c:v>
                  </c:pt>
                  <c:pt idx="2">
                    <c:v>Current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53.2</c:v>
                </c:pt>
                <c:pt idx="1">
                  <c:v>59.8</c:v>
                </c:pt>
                <c:pt idx="2">
                  <c:v>68.4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Risk Score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F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Active</c:v>
                  </c:pt>
                  <c:pt idx="1">
                    <c:v>Moderate</c:v>
                  </c:pt>
                  <c:pt idx="2">
                    <c:v>Light</c:v>
                  </c:pt>
                  <c:pt idx="3">
                    <c:v>Sedentary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</c:v>
                </c:pt>
                <c:pt idx="1">
                  <c:v>58.6</c:v>
                </c:pt>
                <c:pt idx="2">
                  <c:v>63.2</c:v>
                </c:pt>
                <c:pt idx="3">
                  <c:v>68.9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Risk</c:v>
                </c:pt>
              </c:strCache>
            </c:strRef>
          </c:tx>
          <c:spPr>
            <a:solidFill>
              <a:srgbClr val="E74C3C"/>
            </a:solidFill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039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20-30</c:v>
                  </c:pt>
                  <c:pt idx="1">
                    <c:v>31-40</c:v>
                  </c:pt>
                  <c:pt idx="2">
                    <c:v>41-50</c:v>
                  </c:pt>
                  <c:pt idx="3">
                    <c:v>51-60</c:v>
                  </c:pt>
                  <c:pt idx="4">
                    <c:v>61-70</c:v>
                  </c:pt>
                  <c:pt idx="5">
                    <c:v>71-80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38.2</c:v>
                </c:pt>
                <c:pt idx="1">
                  <c:v>47.8</c:v>
                </c:pt>
                <c:pt idx="2">
                  <c:v>57.3</c:v>
                </c:pt>
                <c:pt idx="3">
                  <c:v>66.1</c:v>
                </c:pt>
                <c:pt idx="4">
                  <c:v>72.4</c:v>
                </c:pt>
                <c:pt idx="5">
                  <c:v>74.9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039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Diet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Stress</c:v>
                  </c:pt>
                  <c:pt idx="1">
                    <c:v>Medium Stress</c:v>
                  </c:pt>
                  <c:pt idx="2">
                    <c:v>High Stress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49.2</c:v>
                </c:pt>
                <c:pt idx="1">
                  <c:v>55.1</c:v>
                </c:pt>
                <c:pt idx="2">
                  <c:v>61.8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Diet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Stress</c:v>
                  </c:pt>
                  <c:pt idx="1">
                    <c:v>Medium Stress</c:v>
                  </c:pt>
                  <c:pt idx="2">
                    <c:v>High Stress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55.4</c:v>
                </c:pt>
                <c:pt idx="1">
                  <c:v>61.2</c:v>
                </c:pt>
                <c:pt idx="2">
                  <c:v>67.9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Poor Diet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Stress</c:v>
                  </c:pt>
                  <c:pt idx="1">
                    <c:v>Medium Stress</c:v>
                  </c:pt>
                  <c:pt idx="2">
                    <c:v>High Stress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62.1</c:v>
                </c:pt>
                <c:pt idx="1">
                  <c:v>68.4</c:v>
                </c:pt>
                <c:pt idx="2">
                  <c:v>74.8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6F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6FA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6A08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Age</c:v>
                  </c:pt>
                  <c:pt idx="1">
                    <c:v>BP</c:v>
                  </c:pt>
                  <c:pt idx="2">
                    <c:v>Cholesterol</c:v>
                  </c:pt>
                  <c:pt idx="3">
                    <c:v>BMI</c:v>
                  </c:pt>
                  <c:pt idx="4">
                    <c:v>Family Hist</c:v>
                  </c:pt>
                  <c:pt idx="5">
                    <c:v>Diabetes</c:v>
                  </c:pt>
                  <c:pt idx="6">
                    <c:v>Smoking</c:v>
                  </c:pt>
                  <c:pt idx="7">
                    <c:v>Heart Rate</c:v>
                  </c:pt>
                  <c:pt idx="8">
                    <c:v>Chest Pain</c:v>
                  </c:pt>
                  <c:pt idx="9">
                    <c:v>ECG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0.118</c:v>
                </c:pt>
                <c:pt idx="1">
                  <c:v>0.092</c:v>
                </c:pt>
                <c:pt idx="2">
                  <c:v>0.087</c:v>
                </c:pt>
                <c:pt idx="3">
                  <c:v>0.081</c:v>
                </c:pt>
                <c:pt idx="4">
                  <c:v>0.068</c:v>
                </c:pt>
                <c:pt idx="5">
                  <c:v>0.057</c:v>
                </c:pt>
                <c:pt idx="6">
                  <c:v>0.048</c:v>
                </c:pt>
                <c:pt idx="7">
                  <c:v>0.042</c:v>
                </c:pt>
                <c:pt idx="8">
                  <c:v>0.038</c:v>
                </c:pt>
                <c:pt idx="9">
                  <c:v>0.022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011680" cy="201168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Disease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Predictor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·  Machine Learning  ·  Clinical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76272" y="32004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95344" y="32004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95344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14416" y="32004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14416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33488" y="320040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C0392B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33488" y="32004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Shinoy Babru  |  Data Analyst  |  ROC-AUC: 0.91  |  5,000 Patient Records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02920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 and tech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502920" cy="777240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1556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17043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4996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records, 16 risk factors and data generation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48256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48256"/>
            <a:ext cx="502920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04825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KPIs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432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rates, risk scores and patient statistics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48256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48256"/>
            <a:ext cx="502920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04825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1031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432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Smoking, activity, age, BP and lifestyle impact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80944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80944"/>
            <a:ext cx="502920" cy="7772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98094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0358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3649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feature importance, ROC-AUC 0.91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80944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80944"/>
            <a:ext cx="502920" cy="7772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98094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0358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33649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intelligence queries and findings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91363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913632"/>
            <a:ext cx="50292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91363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396849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Tips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297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health recommendations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91363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913632"/>
            <a:ext cx="502920" cy="777240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91363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396849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Highlights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4297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ATS-friendly bullet points for the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 and full tech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737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 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the leading cause of death globally, accounting for 32% of all deaths. Most patients are diagnosed too late due to lack of early risk assessment tools. This project builds a data-driven predictor that identifies high-risk individuals early using clinical and lifestyle data.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411480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Generate realistic 5,000-patient dataset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17282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Analyse 16 clinical &amp; lifestyle risk factors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19751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ML model to predict heart disease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221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Execute 12 SQL BI queries for insights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24688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interactive risk predictor dashboard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29992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Technology Stack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2084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01568"/>
            <a:ext cx="2084832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5204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Matplotlib · Seaborn · Joblib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32888" y="3401568"/>
            <a:ext cx="2084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32888" y="3401568"/>
            <a:ext cx="2084832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2624328" y="35204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24328" y="388620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· LabelEncoder · train_test_split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45736" y="3401568"/>
            <a:ext cx="2084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45736" y="3401568"/>
            <a:ext cx="2084832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4837176" y="35204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(SQLite)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37176" y="388620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 queries · Aggregations · CTEs · Window Functions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58584" y="3401568"/>
            <a:ext cx="20848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58584" y="3401568"/>
            <a:ext cx="2084832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050024" y="35204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50024" y="388620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· 3 tabs · Real-time predictor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synthetic patient records with 16 clinical and lifestyle risk factors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02996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029968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078992"/>
            <a:ext cx="202996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32888" y="1078992"/>
            <a:ext cx="2029968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532888" y="1170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32888" y="16459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45736" y="1078992"/>
            <a:ext cx="202996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45736" y="1078992"/>
            <a:ext cx="2029968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1170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45736" y="16459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58584" y="1078992"/>
            <a:ext cx="202996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58584" y="1078992"/>
            <a:ext cx="2029968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170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58584" y="16459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2677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Feature Categories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670048"/>
            <a:ext cx="2084832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70048"/>
            <a:ext cx="2084832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889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Demographic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1638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(20–80 yrs)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34381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Gender (M/F)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" y="37124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Family History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32888" y="2670048"/>
            <a:ext cx="2084832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32888" y="2670048"/>
            <a:ext cx="2084832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2624328" y="27889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Clinical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42616" y="31638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Blood Pressure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42616" y="34381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Cholesterol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42616" y="37124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42616" y="398678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Heart 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42616" y="426110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ECG Result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42616" y="45354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Chest Pain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42616" y="48097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Fasting Blood Sugar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42616" y="50840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Diabetes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45736" y="2670048"/>
            <a:ext cx="2084832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45736" y="2670048"/>
            <a:ext cx="2084832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4837176" y="27889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Lifestyle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55464" y="31638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Smoking Status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55464" y="34381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Activity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55464" y="37124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Diet Quality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55464" y="398678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Alcohol Intake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55464" y="426110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Stress Level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58584" y="2670048"/>
            <a:ext cx="2084832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58584" y="2670048"/>
            <a:ext cx="2084832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7050024" y="27889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68312" y="316382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Score (0–100)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68312" y="34381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Category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68312" y="37124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Heart Disease (0/1)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&amp;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from the 5,000-patient heart disease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353312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353312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7043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078992"/>
            <a:ext cx="1353312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078992"/>
            <a:ext cx="1353312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17043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3,649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1664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Cases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1920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 of patients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078992"/>
            <a:ext cx="1353312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78992"/>
            <a:ext cx="1353312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17043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0" y="1664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1920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1353312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78992"/>
            <a:ext cx="1353312" cy="731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17043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1664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Patient 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920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078992"/>
            <a:ext cx="1353312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078992"/>
            <a:ext cx="1353312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17043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1,625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1664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Smokers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1920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 of patients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1078992"/>
            <a:ext cx="1353312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1078992"/>
            <a:ext cx="1353312" cy="7315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117043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1,281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589520" y="1664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1920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25.6% of patients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 Distribution</a:t>
            </a:r>
            <a:endParaRPr lang="en-US" sz="12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274320" y="2926080"/>
          <a:ext cx="4114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/>
          <p:nvPr/>
        </p:nvSpPr>
        <p:spPr>
          <a:xfrm>
            <a:off x="466344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Features (ML Feature Importance)</a:t>
            </a:r>
            <a:endParaRPr lang="en-US" sz="1200" dirty="0"/>
          </a:p>
        </p:txBody>
      </p:sp>
      <p:graphicFrame>
        <p:nvGraphicFramePr>
          <p:cNvPr id="38" name="Chart 1" descr=""/>
          <p:cNvGraphicFramePr/>
          <p:nvPr/>
        </p:nvGraphicFramePr>
        <p:xfrm>
          <a:off x="4572000" y="2926080"/>
          <a:ext cx="4297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Factor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clinical and lifestyle factors drive heart disease risk scores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🚬 Risk by Smoking Status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53312"/>
          <a:ext cx="40233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Risk by Physical Activity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0" y="1353312"/>
          <a:ext cx="42976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Risk Score Progression by Age</a:t>
            </a:r>
            <a:endParaRPr lang="en-US" sz="12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274320" y="3456432"/>
          <a:ext cx="40233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475488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Risk by Stress &amp; Diet</a:t>
            </a:r>
            <a:endParaRPr lang="en-US" sz="1200" dirty="0"/>
          </a:p>
        </p:txBody>
      </p:sp>
      <p:graphicFrame>
        <p:nvGraphicFramePr>
          <p:cNvPr id="12" name="Chart 3" descr=""/>
          <p:cNvGraphicFramePr/>
          <p:nvPr/>
        </p:nvGraphicFramePr>
        <p:xfrm>
          <a:off x="4572000" y="3456432"/>
          <a:ext cx="42976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training, evaluation and performance 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6276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627632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704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184" y="157276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8928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 10 categorical features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153619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48256" y="1078992"/>
            <a:ext cx="16276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48256" y="1078992"/>
            <a:ext cx="1627632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048256" y="11704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03120" y="157276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8928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clinical &amp; lifestyle features selected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94176" y="153619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22192" y="1078992"/>
            <a:ext cx="16276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22192" y="1078992"/>
            <a:ext cx="1627632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3822192" y="11704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77056" y="157276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77056" y="18928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· 20% test · random_state=42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68112" y="153619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596128" y="1078992"/>
            <a:ext cx="16276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96128" y="1078992"/>
            <a:ext cx="1627632" cy="731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5596128" y="11704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50992" y="157276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50992" y="18928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· 150 estimators · n_jobs=-1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42048" y="153619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70064" y="1078992"/>
            <a:ext cx="162763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70064" y="1078992"/>
            <a:ext cx="1627632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7370064" y="117043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24928" y="157276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24928" y="18928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Accuracy, Precision, Recall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 Performance Metrics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3063240"/>
            <a:ext cx="5029200" cy="3657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063240"/>
            <a:ext cx="73152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2316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290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434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447288"/>
            <a:ext cx="5029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3447288"/>
            <a:ext cx="73152" cy="365760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447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23160" y="34472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29000" y="3447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43400" y="3447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831336"/>
            <a:ext cx="5029200" cy="3657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8" name="Shape 46"/>
          <p:cNvSpPr/>
          <p:nvPr/>
        </p:nvSpPr>
        <p:spPr>
          <a:xfrm>
            <a:off x="274320" y="3831336"/>
            <a:ext cx="73152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38313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(0/1)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423160" y="3831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429000" y="3831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343400" y="3831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215384"/>
            <a:ext cx="5029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4215384"/>
            <a:ext cx="73152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" y="4215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(0/1)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423160" y="4215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429000" y="42153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343400" y="42153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" y="4599432"/>
            <a:ext cx="5029200" cy="3657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0" name="Shape 58"/>
          <p:cNvSpPr/>
          <p:nvPr/>
        </p:nvSpPr>
        <p:spPr>
          <a:xfrm>
            <a:off x="274320" y="4599432"/>
            <a:ext cx="73152" cy="3657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1" name="Text 59"/>
          <p:cNvSpPr/>
          <p:nvPr/>
        </p:nvSpPr>
        <p:spPr>
          <a:xfrm>
            <a:off x="411480" y="4599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(0/1)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423160" y="4599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29000" y="4599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343400" y="4599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9496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Feature Importance Ranking</a:t>
            </a:r>
            <a:endParaRPr lang="en-US" sz="13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5303520" y="3017520"/>
          <a:ext cx="35661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Business Intelligence Queries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queries on SQLite database — key findings and business insights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896112"/>
          </a:xfrm>
          <a:prstGeom prst="rect">
            <a:avLst/>
          </a:prstGeom>
          <a:solidFill>
            <a:srgbClr val="EFF6FF"/>
          </a:solidFill>
          <a:ln w="10160">
            <a:solidFill>
              <a:srgbClr val="1A6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0" cy="89611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152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Overall KPIs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144475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patients · 73% disease rate · Avg risk 60.9 · Avg age 49.7 years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834640" cy="896112"/>
          </a:xfrm>
          <a:prstGeom prst="rect">
            <a:avLst/>
          </a:prstGeom>
          <a:solidFill>
            <a:srgbClr val="FEF2F2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457200" cy="8961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09728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76472" y="1152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Categories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76472" y="144475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High: 1,056 · High: 2,593 · Moderate: 1,272 · Low: 79 patients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834640" cy="896112"/>
          </a:xfrm>
          <a:prstGeom prst="rect">
            <a:avLst/>
          </a:prstGeom>
          <a:solidFill>
            <a:srgbClr val="FFF7ED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97280"/>
            <a:ext cx="457200" cy="89611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9728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48272" y="1152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🚬 Smoking Impact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48272" y="144475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smokers avg 68.4 risk vs 53.2 for never smokers — 14-pt gap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2834640" cy="896112"/>
          </a:xfrm>
          <a:prstGeom prst="rect">
            <a:avLst/>
          </a:prstGeom>
          <a:solidFill>
            <a:srgbClr val="F0FDF4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21408"/>
            <a:ext cx="457200" cy="8961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12140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21762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Physical Activity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" y="2468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patients have 68.9 avg risk vs 54.1 for active patients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121408"/>
            <a:ext cx="2834640" cy="896112"/>
          </a:xfrm>
          <a:prstGeom prst="rect">
            <a:avLst/>
          </a:prstGeom>
          <a:solidFill>
            <a:srgbClr val="EFF6FF"/>
          </a:solidFill>
          <a:ln w="10160">
            <a:solidFill>
              <a:srgbClr val="1A6F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121408"/>
            <a:ext cx="457200" cy="89611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12140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76472" y="21762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Age Group Trend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76472" y="2468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from 38.2 (age 20-30) to 74.9 (age 71-80) — near doubling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121408"/>
            <a:ext cx="2834640" cy="896112"/>
          </a:xfrm>
          <a:prstGeom prst="rect">
            <a:avLst/>
          </a:prstGeom>
          <a:solidFill>
            <a:srgbClr val="FEF2F2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121408"/>
            <a:ext cx="457200" cy="8961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12140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48272" y="21762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Diabetes Impact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48272" y="2468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patients: avg risk 12+ pts higher with elevated BP and cholesterol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145536"/>
            <a:ext cx="2834640" cy="896112"/>
          </a:xfrm>
          <a:prstGeom prst="rect">
            <a:avLst/>
          </a:prstGeom>
          <a:solidFill>
            <a:srgbClr val="FFF7ED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145536"/>
            <a:ext cx="457200" cy="89611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145536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 Risk Profiles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" y="349300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patients all have risk &gt;90, LOS &gt;25 days and multiple comorbidities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3145536"/>
            <a:ext cx="2834640" cy="896112"/>
          </a:xfrm>
          <a:prstGeom prst="rect">
            <a:avLst/>
          </a:prstGeom>
          <a:solidFill>
            <a:srgbClr val="F5F3FF"/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145536"/>
            <a:ext cx="457200" cy="89611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2" name="Text 40"/>
          <p:cNvSpPr/>
          <p:nvPr/>
        </p:nvSpPr>
        <p:spPr>
          <a:xfrm>
            <a:off x="3246120" y="3145536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76472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⚧ Gender Analysis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776472" y="349300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 show slightly higher avg risk; similar disease rates overall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3145536"/>
            <a:ext cx="2834640" cy="896112"/>
          </a:xfrm>
          <a:prstGeom prst="rect">
            <a:avLst/>
          </a:prstGeom>
          <a:solidFill>
            <a:srgbClr val="FEF2F2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3145536"/>
            <a:ext cx="457200" cy="8961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3145536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48272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Stress &amp; Diet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748272" y="349300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 + poor diet combination yields avg risk score of 74.8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169664"/>
            <a:ext cx="2834640" cy="896112"/>
          </a:xfrm>
          <a:prstGeom prst="rect">
            <a:avLst/>
          </a:prstGeom>
          <a:solidFill>
            <a:srgbClr val="EFF6FF"/>
          </a:solidFill>
          <a:ln w="10160">
            <a:solidFill>
              <a:srgbClr val="1A6F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169664"/>
            <a:ext cx="457200" cy="89611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169664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" y="4224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Blood Pressure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04672" y="451713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hypertension patients (BP 140+) show 12-pt higher avg risk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46120" y="4169664"/>
            <a:ext cx="2834640" cy="896112"/>
          </a:xfrm>
          <a:prstGeom prst="rect">
            <a:avLst/>
          </a:prstGeom>
          <a:solidFill>
            <a:srgbClr val="F5F3FF"/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46120" y="4169664"/>
            <a:ext cx="457200" cy="89611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7" name="Text 55"/>
          <p:cNvSpPr/>
          <p:nvPr/>
        </p:nvSpPr>
        <p:spPr>
          <a:xfrm>
            <a:off x="3246120" y="4169664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776472" y="4224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Family History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776472" y="451713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history: 73% disease rate vs 64% without — 9-point difference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4169664"/>
            <a:ext cx="2834640" cy="896112"/>
          </a:xfrm>
          <a:prstGeom prst="rect">
            <a:avLst/>
          </a:prstGeom>
          <a:solidFill>
            <a:srgbClr val="FEF2F2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4169664"/>
            <a:ext cx="457200" cy="8961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2" name="Text 60"/>
          <p:cNvSpPr/>
          <p:nvPr/>
        </p:nvSpPr>
        <p:spPr>
          <a:xfrm>
            <a:off x="6217920" y="4169664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48272" y="4224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💔 Chest Pain Types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748272" y="451713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Angina patients: 82% disease rate — highest of all chest pain types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BI-style browser dashboard with 3 tabs — no installation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834640" cy="3794760"/>
          </a:xfrm>
          <a:prstGeom prst="rect">
            <a:avLst/>
          </a:prstGeom>
          <a:solidFill>
            <a:srgbClr val="EFF6FF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2834640" cy="502920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7899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📊  Dashboard Tab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KPI cards — patients, revenue, disease rate, avg risk, smokers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16712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Category bar chart (Low → Very High)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64261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 group risk trend line chart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11810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Smoking, activity, gender doughnut charts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59359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Stress &amp; diet grouped bar chart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406908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importance horizontal bar chart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078992"/>
            <a:ext cx="2834640" cy="3794760"/>
          </a:xfrm>
          <a:prstGeom prst="rect">
            <a:avLst/>
          </a:prstGeom>
          <a:solidFill>
            <a:srgbClr val="FEF2F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078992"/>
            <a:ext cx="283464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3319272" y="107899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🔍  Risk Predictor Tab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69164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16 interactive sliders and dropdowns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216712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Age, BMI, BP, Cholesterol, Heart Rate sliders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264261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Smoking, activity, diet, stress, alcohol dropdowns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311810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risk score calculation (0–100)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59359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category with colour-coded result card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406908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risk factors identified per patient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454456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Personalised prevention recommendations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078992"/>
            <a:ext cx="283464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078992"/>
            <a:ext cx="283464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107899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💡  Insights Tab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27648" y="169164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insight cards with key statistical findings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216712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8 prevention recommendations with evidence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264261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 query results summary (6 key findings)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311810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Smoking, diabetes, family history impact stats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359359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Chest pain and BP category correlations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27648" y="406908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Stress + diet combination risk matrix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strategies generated by the predictor to reduce heart disease risk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1664208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225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Smoking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" y="20756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heart disease risk by up to 50% within just 1 year of quitting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115568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9968" y="1115568"/>
            <a:ext cx="1664208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12" name="Text 10"/>
          <p:cNvSpPr/>
          <p:nvPr/>
        </p:nvSpPr>
        <p:spPr>
          <a:xfrm>
            <a:off x="2029968" y="1225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84832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Regularly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84832" y="20756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min/week moderate activity reduces cardiac risk by 30–35%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03904" y="1115568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03904" y="1115568"/>
            <a:ext cx="1664208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1225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58768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Heart-Healthy Diet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58768" y="20756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diet reduces cardiovascular events by up to 30%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1115568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115568"/>
            <a:ext cx="1664208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225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32704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Healthy BMI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32704" y="20756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BMI below 25 significantly reduces strain and cardiac risk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51776" y="1115568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51776" y="1115568"/>
            <a:ext cx="1664208" cy="731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25"/>
          <p:cNvSpPr/>
          <p:nvPr/>
        </p:nvSpPr>
        <p:spPr>
          <a:xfrm>
            <a:off x="7351776" y="12252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🧘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06640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Stress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06640" y="20756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stress raises BP and cortisol — practice yoga, meditation, breathing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017520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017520"/>
            <a:ext cx="1664208" cy="7315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" y="31272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🍺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10896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Alcohol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0896" y="3977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drinking raises BP and weakens heart muscle over time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29968" y="3017520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29968" y="3017520"/>
            <a:ext cx="1664208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7" name="Text 35"/>
          <p:cNvSpPr/>
          <p:nvPr/>
        </p:nvSpPr>
        <p:spPr>
          <a:xfrm>
            <a:off x="2029968" y="31272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084832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BP &amp; Chol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84832" y="3977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monitoring and medication adherence are critical after 40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03904" y="3017520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03904" y="3017520"/>
            <a:ext cx="1664208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42" name="Text 40"/>
          <p:cNvSpPr/>
          <p:nvPr/>
        </p:nvSpPr>
        <p:spPr>
          <a:xfrm>
            <a:off x="3803904" y="31272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858768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Diabetes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858768" y="3977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HbA1c below 7% significantly reduces cardiovascular complications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3017520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3017520"/>
            <a:ext cx="1664208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31272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632704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Sleep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32704" y="3977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hours/night — poor sleep raises blood pressure and cortisol levels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51776" y="3017520"/>
            <a:ext cx="1664208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351776" y="3017520"/>
            <a:ext cx="1664208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7351776" y="31272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40664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Checkups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406640" y="3977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ECGs and cardiac screening recommended after age 40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ATS-friendly bullet points ready to add to your resume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 Predictor  |  Python · SQL · Scikit-learn · Pandas · Power BI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8595360" cy="749808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36192"/>
            <a:ext cx="502920" cy="7498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361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heart disease risk prediction pipeline using Python (Pandas, NumPy) to generate and analyse a 5,000-record patient dataset across 16 clinical and lifestyle risk factors.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8595360" cy="749808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04872"/>
            <a:ext cx="502920" cy="749808"/>
          </a:xfrm>
          <a:prstGeom prst="rect">
            <a:avLst/>
          </a:prstGeom>
          <a:solidFill>
            <a:srgbClr val="1A6FA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40487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41448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Random Forest model achieving 91% ROC-AUC to predict heart disease likelihood, with feature engineering, label encoding and train-test split evaluation.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73552"/>
            <a:ext cx="8595360" cy="749808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73552"/>
            <a:ext cx="502920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2735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310128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12 SQL queries in SQLite uncovering key insights including a 14-point risk increase for smokers and 82% disease rate among typical angina patients.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42232"/>
            <a:ext cx="8595360" cy="749808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142232"/>
            <a:ext cx="502920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4223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178808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interactive Power BI-style dashboard with a real-time risk predictor delivering personalised risk scores and prevention recommendations based on patient inputs.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words total · ATS-optimised · Keywords: Python, SQL, Machine Learning, Random Forest, ROC-AUC, Power BI, Feature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77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🫀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7249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saves lives — data-driven insights empower prevention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3310128"/>
            <a:ext cx="40233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shinoybabru2000@gmail.com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linkedin.com/in/shinoy-babru-2000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3968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 github.com/shinoybabru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+91 7509550640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Risk Predictor</dc:title>
  <dc:subject>PptxGenJS Presentation</dc:subject>
  <dc:creator>Shinoy Babru</dc:creator>
  <cp:lastModifiedBy>Shinoy Babru</cp:lastModifiedBy>
  <cp:revision>1</cp:revision>
  <dcterms:created xsi:type="dcterms:W3CDTF">2026-05-26T03:15:44Z</dcterms:created>
  <dcterms:modified xsi:type="dcterms:W3CDTF">2026-05-26T03:15:44Z</dcterms:modified>
</cp:coreProperties>
</file>